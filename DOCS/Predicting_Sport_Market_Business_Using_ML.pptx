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7" r:id="rId2"/>
    <p:sldId id="258" r:id="rId3"/>
    <p:sldId id="266" r:id="rId4"/>
    <p:sldId id="261" r:id="rId5"/>
    <p:sldId id="268" r:id="rId6"/>
    <p:sldId id="260" r:id="rId7"/>
    <p:sldId id="267" r:id="rId8"/>
    <p:sldId id="270"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3348D9-9243-4215-B5AE-0C14194D0BBC}" type="datetimeFigureOut">
              <a:rPr lang="en-IN" smtClean="0"/>
              <a:t>08-05-2026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B817F2-8452-4527-9AB1-6F8D27124C61}" type="slidenum">
              <a:rPr lang="en-IN" smtClean="0"/>
              <a:t>‹#›</a:t>
            </a:fld>
            <a:endParaRPr lang="en-IN"/>
          </a:p>
        </p:txBody>
      </p:sp>
    </p:spTree>
    <p:extLst>
      <p:ext uri="{BB962C8B-B14F-4D97-AF65-F5344CB8AC3E}">
        <p14:creationId xmlns:p14="http://schemas.microsoft.com/office/powerpoint/2010/main" val="1278267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 name="Google Shape;86;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 name="Google Shape;108;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5" name="Google Shape;11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680A8-04DB-0CD5-2928-9E816819560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1F16956-5223-60BB-F527-44D008F4DA6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713F066-96DD-3BC1-0435-B599739012F5}"/>
              </a:ext>
            </a:extLst>
          </p:cNvPr>
          <p:cNvSpPr>
            <a:spLocks noGrp="1"/>
          </p:cNvSpPr>
          <p:nvPr>
            <p:ph type="dt" sz="half" idx="10"/>
          </p:nvPr>
        </p:nvSpPr>
        <p:spPr/>
        <p:txBody>
          <a:bodyPr/>
          <a:lstStyle/>
          <a:p>
            <a:fld id="{F3C1C7B8-CC8B-48B3-A477-488604BB6ABB}" type="datetimeFigureOut">
              <a:rPr lang="en-IN" smtClean="0"/>
              <a:t>08-05-2026</a:t>
            </a:fld>
            <a:endParaRPr lang="en-IN"/>
          </a:p>
        </p:txBody>
      </p:sp>
      <p:sp>
        <p:nvSpPr>
          <p:cNvPr id="5" name="Footer Placeholder 4">
            <a:extLst>
              <a:ext uri="{FF2B5EF4-FFF2-40B4-BE49-F238E27FC236}">
                <a16:creationId xmlns:a16="http://schemas.microsoft.com/office/drawing/2014/main" id="{C5658557-3778-922E-8832-AB0777AC2A8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A6EB2B9-640C-0122-D2A0-B28A4FF1DDA1}"/>
              </a:ext>
            </a:extLst>
          </p:cNvPr>
          <p:cNvSpPr>
            <a:spLocks noGrp="1"/>
          </p:cNvSpPr>
          <p:nvPr>
            <p:ph type="sldNum" sz="quarter" idx="12"/>
          </p:nvPr>
        </p:nvSpPr>
        <p:spPr/>
        <p:txBody>
          <a:bodyPr/>
          <a:lstStyle/>
          <a:p>
            <a:fld id="{00CFB082-465E-40B3-87D5-342ED6989E64}" type="slidenum">
              <a:rPr lang="en-IN" smtClean="0"/>
              <a:t>‹#›</a:t>
            </a:fld>
            <a:endParaRPr lang="en-IN"/>
          </a:p>
        </p:txBody>
      </p:sp>
    </p:spTree>
    <p:extLst>
      <p:ext uri="{BB962C8B-B14F-4D97-AF65-F5344CB8AC3E}">
        <p14:creationId xmlns:p14="http://schemas.microsoft.com/office/powerpoint/2010/main" val="20333019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783E0-980D-0754-8970-89A619ECE31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04FDB63-42B6-9DC2-69C6-6670C5D5126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AFC7A3F-26DA-2DB0-F8D4-7070584E4E06}"/>
              </a:ext>
            </a:extLst>
          </p:cNvPr>
          <p:cNvSpPr>
            <a:spLocks noGrp="1"/>
          </p:cNvSpPr>
          <p:nvPr>
            <p:ph type="dt" sz="half" idx="10"/>
          </p:nvPr>
        </p:nvSpPr>
        <p:spPr/>
        <p:txBody>
          <a:bodyPr/>
          <a:lstStyle/>
          <a:p>
            <a:fld id="{F3C1C7B8-CC8B-48B3-A477-488604BB6ABB}" type="datetimeFigureOut">
              <a:rPr lang="en-IN" smtClean="0"/>
              <a:t>08-05-2026</a:t>
            </a:fld>
            <a:endParaRPr lang="en-IN"/>
          </a:p>
        </p:txBody>
      </p:sp>
      <p:sp>
        <p:nvSpPr>
          <p:cNvPr id="5" name="Footer Placeholder 4">
            <a:extLst>
              <a:ext uri="{FF2B5EF4-FFF2-40B4-BE49-F238E27FC236}">
                <a16:creationId xmlns:a16="http://schemas.microsoft.com/office/drawing/2014/main" id="{A2D92DF0-86B8-358C-AF44-E2B718602A2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9B8F383-47A4-BB42-7004-5945B44D5FE7}"/>
              </a:ext>
            </a:extLst>
          </p:cNvPr>
          <p:cNvSpPr>
            <a:spLocks noGrp="1"/>
          </p:cNvSpPr>
          <p:nvPr>
            <p:ph type="sldNum" sz="quarter" idx="12"/>
          </p:nvPr>
        </p:nvSpPr>
        <p:spPr/>
        <p:txBody>
          <a:bodyPr/>
          <a:lstStyle/>
          <a:p>
            <a:fld id="{00CFB082-465E-40B3-87D5-342ED6989E64}" type="slidenum">
              <a:rPr lang="en-IN" smtClean="0"/>
              <a:t>‹#›</a:t>
            </a:fld>
            <a:endParaRPr lang="en-IN"/>
          </a:p>
        </p:txBody>
      </p:sp>
    </p:spTree>
    <p:extLst>
      <p:ext uri="{BB962C8B-B14F-4D97-AF65-F5344CB8AC3E}">
        <p14:creationId xmlns:p14="http://schemas.microsoft.com/office/powerpoint/2010/main" val="20317905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C8CCE-0F67-07BF-1456-FD5CD580FFD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18EE4D3-8D85-9439-6F9F-B7972FD644A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A87C02C-5855-8000-A1F0-8F066CCB7D84}"/>
              </a:ext>
            </a:extLst>
          </p:cNvPr>
          <p:cNvSpPr>
            <a:spLocks noGrp="1"/>
          </p:cNvSpPr>
          <p:nvPr>
            <p:ph type="dt" sz="half" idx="10"/>
          </p:nvPr>
        </p:nvSpPr>
        <p:spPr/>
        <p:txBody>
          <a:bodyPr/>
          <a:lstStyle/>
          <a:p>
            <a:fld id="{F3C1C7B8-CC8B-48B3-A477-488604BB6ABB}" type="datetimeFigureOut">
              <a:rPr lang="en-IN" smtClean="0"/>
              <a:t>08-05-2026</a:t>
            </a:fld>
            <a:endParaRPr lang="en-IN"/>
          </a:p>
        </p:txBody>
      </p:sp>
      <p:sp>
        <p:nvSpPr>
          <p:cNvPr id="5" name="Footer Placeholder 4">
            <a:extLst>
              <a:ext uri="{FF2B5EF4-FFF2-40B4-BE49-F238E27FC236}">
                <a16:creationId xmlns:a16="http://schemas.microsoft.com/office/drawing/2014/main" id="{BDDF22BA-4B1A-5CA8-9397-61A1BA98386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2E1BBE4-E732-340A-BEB6-DBF5F403C3B5}"/>
              </a:ext>
            </a:extLst>
          </p:cNvPr>
          <p:cNvSpPr>
            <a:spLocks noGrp="1"/>
          </p:cNvSpPr>
          <p:nvPr>
            <p:ph type="sldNum" sz="quarter" idx="12"/>
          </p:nvPr>
        </p:nvSpPr>
        <p:spPr/>
        <p:txBody>
          <a:bodyPr/>
          <a:lstStyle/>
          <a:p>
            <a:fld id="{00CFB082-465E-40B3-87D5-342ED6989E64}" type="slidenum">
              <a:rPr lang="en-IN" smtClean="0"/>
              <a:t>‹#›</a:t>
            </a:fld>
            <a:endParaRPr lang="en-IN"/>
          </a:p>
        </p:txBody>
      </p:sp>
    </p:spTree>
    <p:extLst>
      <p:ext uri="{BB962C8B-B14F-4D97-AF65-F5344CB8AC3E}">
        <p14:creationId xmlns:p14="http://schemas.microsoft.com/office/powerpoint/2010/main" val="26341766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C5EA6B-58BC-2113-EB16-880BBEF97B6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9403EB3-48F6-8054-D823-FC8B4EC6991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8A77926-A672-5D96-E46D-EDE6354FC6C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E827C01-E6AD-0F45-F1E8-53881211DAEE}"/>
              </a:ext>
            </a:extLst>
          </p:cNvPr>
          <p:cNvSpPr>
            <a:spLocks noGrp="1"/>
          </p:cNvSpPr>
          <p:nvPr>
            <p:ph type="dt" sz="half" idx="10"/>
          </p:nvPr>
        </p:nvSpPr>
        <p:spPr/>
        <p:txBody>
          <a:bodyPr/>
          <a:lstStyle/>
          <a:p>
            <a:fld id="{F3C1C7B8-CC8B-48B3-A477-488604BB6ABB}" type="datetimeFigureOut">
              <a:rPr lang="en-IN" smtClean="0"/>
              <a:t>08-05-2026</a:t>
            </a:fld>
            <a:endParaRPr lang="en-IN"/>
          </a:p>
        </p:txBody>
      </p:sp>
      <p:sp>
        <p:nvSpPr>
          <p:cNvPr id="6" name="Footer Placeholder 5">
            <a:extLst>
              <a:ext uri="{FF2B5EF4-FFF2-40B4-BE49-F238E27FC236}">
                <a16:creationId xmlns:a16="http://schemas.microsoft.com/office/drawing/2014/main" id="{22842814-61B4-AEA3-F007-C70B39D1421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5BB9434-AE09-3A86-2FC5-DA07480EAF36}"/>
              </a:ext>
            </a:extLst>
          </p:cNvPr>
          <p:cNvSpPr>
            <a:spLocks noGrp="1"/>
          </p:cNvSpPr>
          <p:nvPr>
            <p:ph type="sldNum" sz="quarter" idx="12"/>
          </p:nvPr>
        </p:nvSpPr>
        <p:spPr/>
        <p:txBody>
          <a:bodyPr/>
          <a:lstStyle/>
          <a:p>
            <a:fld id="{00CFB082-465E-40B3-87D5-342ED6989E64}" type="slidenum">
              <a:rPr lang="en-IN" smtClean="0"/>
              <a:t>‹#›</a:t>
            </a:fld>
            <a:endParaRPr lang="en-IN"/>
          </a:p>
        </p:txBody>
      </p:sp>
    </p:spTree>
    <p:extLst>
      <p:ext uri="{BB962C8B-B14F-4D97-AF65-F5344CB8AC3E}">
        <p14:creationId xmlns:p14="http://schemas.microsoft.com/office/powerpoint/2010/main" val="37326334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9FC6E5-73C3-FC31-4CF6-247BAD55662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B38397F-6EFD-B614-66EB-6B5EAA0A859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E1041CD-4D4B-1D54-C1EF-25EC0D88AC5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55A21EF-A90A-BFC6-1394-125F652A69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9871E0B-D76B-71A7-99A5-5D177B20064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D28A7D7-6852-A432-3B08-B8E886395BB8}"/>
              </a:ext>
            </a:extLst>
          </p:cNvPr>
          <p:cNvSpPr>
            <a:spLocks noGrp="1"/>
          </p:cNvSpPr>
          <p:nvPr>
            <p:ph type="dt" sz="half" idx="10"/>
          </p:nvPr>
        </p:nvSpPr>
        <p:spPr/>
        <p:txBody>
          <a:bodyPr/>
          <a:lstStyle/>
          <a:p>
            <a:fld id="{F3C1C7B8-CC8B-48B3-A477-488604BB6ABB}" type="datetimeFigureOut">
              <a:rPr lang="en-IN" smtClean="0"/>
              <a:t>08-05-2026</a:t>
            </a:fld>
            <a:endParaRPr lang="en-IN"/>
          </a:p>
        </p:txBody>
      </p:sp>
      <p:sp>
        <p:nvSpPr>
          <p:cNvPr id="8" name="Footer Placeholder 7">
            <a:extLst>
              <a:ext uri="{FF2B5EF4-FFF2-40B4-BE49-F238E27FC236}">
                <a16:creationId xmlns:a16="http://schemas.microsoft.com/office/drawing/2014/main" id="{7C31BC65-EED9-C225-ECA7-D0B3B2AB6D2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A95A3E4-533E-8752-75D5-980E6C732D49}"/>
              </a:ext>
            </a:extLst>
          </p:cNvPr>
          <p:cNvSpPr>
            <a:spLocks noGrp="1"/>
          </p:cNvSpPr>
          <p:nvPr>
            <p:ph type="sldNum" sz="quarter" idx="12"/>
          </p:nvPr>
        </p:nvSpPr>
        <p:spPr/>
        <p:txBody>
          <a:bodyPr/>
          <a:lstStyle/>
          <a:p>
            <a:fld id="{00CFB082-465E-40B3-87D5-342ED6989E64}" type="slidenum">
              <a:rPr lang="en-IN" smtClean="0"/>
              <a:t>‹#›</a:t>
            </a:fld>
            <a:endParaRPr lang="en-IN"/>
          </a:p>
        </p:txBody>
      </p:sp>
    </p:spTree>
    <p:extLst>
      <p:ext uri="{BB962C8B-B14F-4D97-AF65-F5344CB8AC3E}">
        <p14:creationId xmlns:p14="http://schemas.microsoft.com/office/powerpoint/2010/main" val="39089822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F5ECD1-D8BF-FBEC-37C9-BE141B269BD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04EC0D5-1B94-A4A7-42A4-A20DC43F4461}"/>
              </a:ext>
            </a:extLst>
          </p:cNvPr>
          <p:cNvSpPr>
            <a:spLocks noGrp="1"/>
          </p:cNvSpPr>
          <p:nvPr>
            <p:ph type="dt" sz="half" idx="10"/>
          </p:nvPr>
        </p:nvSpPr>
        <p:spPr/>
        <p:txBody>
          <a:bodyPr/>
          <a:lstStyle/>
          <a:p>
            <a:fld id="{F3C1C7B8-CC8B-48B3-A477-488604BB6ABB}" type="datetimeFigureOut">
              <a:rPr lang="en-IN" smtClean="0"/>
              <a:t>08-05-2026</a:t>
            </a:fld>
            <a:endParaRPr lang="en-IN"/>
          </a:p>
        </p:txBody>
      </p:sp>
      <p:sp>
        <p:nvSpPr>
          <p:cNvPr id="4" name="Footer Placeholder 3">
            <a:extLst>
              <a:ext uri="{FF2B5EF4-FFF2-40B4-BE49-F238E27FC236}">
                <a16:creationId xmlns:a16="http://schemas.microsoft.com/office/drawing/2014/main" id="{F8B2AF4A-B8E1-C030-A224-D107C4C169C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2039298-6CAC-7CFF-1E69-F88CEE1506BE}"/>
              </a:ext>
            </a:extLst>
          </p:cNvPr>
          <p:cNvSpPr>
            <a:spLocks noGrp="1"/>
          </p:cNvSpPr>
          <p:nvPr>
            <p:ph type="sldNum" sz="quarter" idx="12"/>
          </p:nvPr>
        </p:nvSpPr>
        <p:spPr/>
        <p:txBody>
          <a:bodyPr/>
          <a:lstStyle/>
          <a:p>
            <a:fld id="{00CFB082-465E-40B3-87D5-342ED6989E64}" type="slidenum">
              <a:rPr lang="en-IN" smtClean="0"/>
              <a:t>‹#›</a:t>
            </a:fld>
            <a:endParaRPr lang="en-IN"/>
          </a:p>
        </p:txBody>
      </p:sp>
    </p:spTree>
    <p:extLst>
      <p:ext uri="{BB962C8B-B14F-4D97-AF65-F5344CB8AC3E}">
        <p14:creationId xmlns:p14="http://schemas.microsoft.com/office/powerpoint/2010/main" val="13647920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AF9D39B-24B1-BFC6-33C2-7D06FA555180}"/>
              </a:ext>
            </a:extLst>
          </p:cNvPr>
          <p:cNvSpPr>
            <a:spLocks noGrp="1"/>
          </p:cNvSpPr>
          <p:nvPr>
            <p:ph type="dt" sz="half" idx="10"/>
          </p:nvPr>
        </p:nvSpPr>
        <p:spPr/>
        <p:txBody>
          <a:bodyPr/>
          <a:lstStyle/>
          <a:p>
            <a:fld id="{F3C1C7B8-CC8B-48B3-A477-488604BB6ABB}" type="datetimeFigureOut">
              <a:rPr lang="en-IN" smtClean="0"/>
              <a:t>08-05-2026</a:t>
            </a:fld>
            <a:endParaRPr lang="en-IN"/>
          </a:p>
        </p:txBody>
      </p:sp>
      <p:sp>
        <p:nvSpPr>
          <p:cNvPr id="3" name="Footer Placeholder 2">
            <a:extLst>
              <a:ext uri="{FF2B5EF4-FFF2-40B4-BE49-F238E27FC236}">
                <a16:creationId xmlns:a16="http://schemas.microsoft.com/office/drawing/2014/main" id="{1162DF0D-43F0-3CF3-FF38-FFA44BD4BB7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A9B4673-83BD-94A0-DEC9-E970673B6871}"/>
              </a:ext>
            </a:extLst>
          </p:cNvPr>
          <p:cNvSpPr>
            <a:spLocks noGrp="1"/>
          </p:cNvSpPr>
          <p:nvPr>
            <p:ph type="sldNum" sz="quarter" idx="12"/>
          </p:nvPr>
        </p:nvSpPr>
        <p:spPr/>
        <p:txBody>
          <a:bodyPr/>
          <a:lstStyle/>
          <a:p>
            <a:fld id="{00CFB082-465E-40B3-87D5-342ED6989E64}" type="slidenum">
              <a:rPr lang="en-IN" smtClean="0"/>
              <a:t>‹#›</a:t>
            </a:fld>
            <a:endParaRPr lang="en-IN"/>
          </a:p>
        </p:txBody>
      </p:sp>
    </p:spTree>
    <p:extLst>
      <p:ext uri="{BB962C8B-B14F-4D97-AF65-F5344CB8AC3E}">
        <p14:creationId xmlns:p14="http://schemas.microsoft.com/office/powerpoint/2010/main" val="32587082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37882-A668-D821-5E80-4A9676FE768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3D0B0B2-ADE2-46E0-8C66-E54659579F3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478FB9D-A3A6-8060-7A13-A47739780A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A5CD76-5DDB-9E0D-A764-FC0DAE7176D3}"/>
              </a:ext>
            </a:extLst>
          </p:cNvPr>
          <p:cNvSpPr>
            <a:spLocks noGrp="1"/>
          </p:cNvSpPr>
          <p:nvPr>
            <p:ph type="dt" sz="half" idx="10"/>
          </p:nvPr>
        </p:nvSpPr>
        <p:spPr/>
        <p:txBody>
          <a:bodyPr/>
          <a:lstStyle/>
          <a:p>
            <a:fld id="{F3C1C7B8-CC8B-48B3-A477-488604BB6ABB}" type="datetimeFigureOut">
              <a:rPr lang="en-IN" smtClean="0"/>
              <a:t>08-05-2026</a:t>
            </a:fld>
            <a:endParaRPr lang="en-IN"/>
          </a:p>
        </p:txBody>
      </p:sp>
      <p:sp>
        <p:nvSpPr>
          <p:cNvPr id="6" name="Footer Placeholder 5">
            <a:extLst>
              <a:ext uri="{FF2B5EF4-FFF2-40B4-BE49-F238E27FC236}">
                <a16:creationId xmlns:a16="http://schemas.microsoft.com/office/drawing/2014/main" id="{0DF26D18-11D1-3B34-A328-1AE8B0E0FA0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D4CFB6D-E50B-46C4-7CC1-3910304AFCD0}"/>
              </a:ext>
            </a:extLst>
          </p:cNvPr>
          <p:cNvSpPr>
            <a:spLocks noGrp="1"/>
          </p:cNvSpPr>
          <p:nvPr>
            <p:ph type="sldNum" sz="quarter" idx="12"/>
          </p:nvPr>
        </p:nvSpPr>
        <p:spPr/>
        <p:txBody>
          <a:bodyPr/>
          <a:lstStyle/>
          <a:p>
            <a:fld id="{00CFB082-465E-40B3-87D5-342ED6989E64}" type="slidenum">
              <a:rPr lang="en-IN" smtClean="0"/>
              <a:t>‹#›</a:t>
            </a:fld>
            <a:endParaRPr lang="en-IN"/>
          </a:p>
        </p:txBody>
      </p:sp>
    </p:spTree>
    <p:extLst>
      <p:ext uri="{BB962C8B-B14F-4D97-AF65-F5344CB8AC3E}">
        <p14:creationId xmlns:p14="http://schemas.microsoft.com/office/powerpoint/2010/main" val="5100493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92499-9FD7-EED9-7882-B4C1D0EB61B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9D6090B-2809-DDE5-DE09-99838C80511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2A88D861-551F-CCD7-B36A-252C6C01EB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71A3084-6676-EAC5-2587-C39A57CBD38F}"/>
              </a:ext>
            </a:extLst>
          </p:cNvPr>
          <p:cNvSpPr>
            <a:spLocks noGrp="1"/>
          </p:cNvSpPr>
          <p:nvPr>
            <p:ph type="dt" sz="half" idx="10"/>
          </p:nvPr>
        </p:nvSpPr>
        <p:spPr/>
        <p:txBody>
          <a:bodyPr/>
          <a:lstStyle/>
          <a:p>
            <a:fld id="{F3C1C7B8-CC8B-48B3-A477-488604BB6ABB}" type="datetimeFigureOut">
              <a:rPr lang="en-IN" smtClean="0"/>
              <a:t>08-05-2026</a:t>
            </a:fld>
            <a:endParaRPr lang="en-IN"/>
          </a:p>
        </p:txBody>
      </p:sp>
      <p:sp>
        <p:nvSpPr>
          <p:cNvPr id="6" name="Footer Placeholder 5">
            <a:extLst>
              <a:ext uri="{FF2B5EF4-FFF2-40B4-BE49-F238E27FC236}">
                <a16:creationId xmlns:a16="http://schemas.microsoft.com/office/drawing/2014/main" id="{5C8E20F4-490A-26D9-ACCC-4525DC852D6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2EFC1BE-24DF-75CF-315A-78080E83A419}"/>
              </a:ext>
            </a:extLst>
          </p:cNvPr>
          <p:cNvSpPr>
            <a:spLocks noGrp="1"/>
          </p:cNvSpPr>
          <p:nvPr>
            <p:ph type="sldNum" sz="quarter" idx="12"/>
          </p:nvPr>
        </p:nvSpPr>
        <p:spPr/>
        <p:txBody>
          <a:bodyPr/>
          <a:lstStyle/>
          <a:p>
            <a:fld id="{00CFB082-465E-40B3-87D5-342ED6989E64}" type="slidenum">
              <a:rPr lang="en-IN" smtClean="0"/>
              <a:t>‹#›</a:t>
            </a:fld>
            <a:endParaRPr lang="en-IN"/>
          </a:p>
        </p:txBody>
      </p:sp>
    </p:spTree>
    <p:extLst>
      <p:ext uri="{BB962C8B-B14F-4D97-AF65-F5344CB8AC3E}">
        <p14:creationId xmlns:p14="http://schemas.microsoft.com/office/powerpoint/2010/main" val="42154562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E8DC7-F5AF-0FAC-C264-EE1CDC5FF1D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AAE8B54-338D-5DF1-2FDF-0694D656A44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C8F3A23-CA87-E4AA-52E8-AF3CEF92534C}"/>
              </a:ext>
            </a:extLst>
          </p:cNvPr>
          <p:cNvSpPr>
            <a:spLocks noGrp="1"/>
          </p:cNvSpPr>
          <p:nvPr>
            <p:ph type="dt" sz="half" idx="10"/>
          </p:nvPr>
        </p:nvSpPr>
        <p:spPr/>
        <p:txBody>
          <a:bodyPr/>
          <a:lstStyle/>
          <a:p>
            <a:fld id="{F3C1C7B8-CC8B-48B3-A477-488604BB6ABB}" type="datetimeFigureOut">
              <a:rPr lang="en-IN" smtClean="0"/>
              <a:t>08-05-2026</a:t>
            </a:fld>
            <a:endParaRPr lang="en-IN"/>
          </a:p>
        </p:txBody>
      </p:sp>
      <p:sp>
        <p:nvSpPr>
          <p:cNvPr id="5" name="Footer Placeholder 4">
            <a:extLst>
              <a:ext uri="{FF2B5EF4-FFF2-40B4-BE49-F238E27FC236}">
                <a16:creationId xmlns:a16="http://schemas.microsoft.com/office/drawing/2014/main" id="{D37B944E-C058-AA66-E7BE-71B6A6D94C5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6A8F6C6-0634-4F64-2C1D-4DA5EBB724FD}"/>
              </a:ext>
            </a:extLst>
          </p:cNvPr>
          <p:cNvSpPr>
            <a:spLocks noGrp="1"/>
          </p:cNvSpPr>
          <p:nvPr>
            <p:ph type="sldNum" sz="quarter" idx="12"/>
          </p:nvPr>
        </p:nvSpPr>
        <p:spPr/>
        <p:txBody>
          <a:bodyPr/>
          <a:lstStyle/>
          <a:p>
            <a:fld id="{00CFB082-465E-40B3-87D5-342ED6989E64}" type="slidenum">
              <a:rPr lang="en-IN" smtClean="0"/>
              <a:t>‹#›</a:t>
            </a:fld>
            <a:endParaRPr lang="en-IN"/>
          </a:p>
        </p:txBody>
      </p:sp>
    </p:spTree>
    <p:extLst>
      <p:ext uri="{BB962C8B-B14F-4D97-AF65-F5344CB8AC3E}">
        <p14:creationId xmlns:p14="http://schemas.microsoft.com/office/powerpoint/2010/main" val="8898138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67B4172-FA22-C573-7B0E-A37463743EB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2DB96F2-B18B-F2F0-B4D2-D5F2849B162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2DD9413-0E8B-C57E-34E0-EE15C927591E}"/>
              </a:ext>
            </a:extLst>
          </p:cNvPr>
          <p:cNvSpPr>
            <a:spLocks noGrp="1"/>
          </p:cNvSpPr>
          <p:nvPr>
            <p:ph type="dt" sz="half" idx="10"/>
          </p:nvPr>
        </p:nvSpPr>
        <p:spPr/>
        <p:txBody>
          <a:bodyPr/>
          <a:lstStyle/>
          <a:p>
            <a:fld id="{F3C1C7B8-CC8B-48B3-A477-488604BB6ABB}" type="datetimeFigureOut">
              <a:rPr lang="en-IN" smtClean="0"/>
              <a:t>08-05-2026</a:t>
            </a:fld>
            <a:endParaRPr lang="en-IN"/>
          </a:p>
        </p:txBody>
      </p:sp>
      <p:sp>
        <p:nvSpPr>
          <p:cNvPr id="5" name="Footer Placeholder 4">
            <a:extLst>
              <a:ext uri="{FF2B5EF4-FFF2-40B4-BE49-F238E27FC236}">
                <a16:creationId xmlns:a16="http://schemas.microsoft.com/office/drawing/2014/main" id="{5FDA7DB1-0D7C-0AA5-D654-2C991668C00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E8106D8-147A-3880-D85C-D5327CC0B229}"/>
              </a:ext>
            </a:extLst>
          </p:cNvPr>
          <p:cNvSpPr>
            <a:spLocks noGrp="1"/>
          </p:cNvSpPr>
          <p:nvPr>
            <p:ph type="sldNum" sz="quarter" idx="12"/>
          </p:nvPr>
        </p:nvSpPr>
        <p:spPr/>
        <p:txBody>
          <a:bodyPr/>
          <a:lstStyle/>
          <a:p>
            <a:fld id="{00CFB082-465E-40B3-87D5-342ED6989E64}" type="slidenum">
              <a:rPr lang="en-IN" smtClean="0"/>
              <a:t>‹#›</a:t>
            </a:fld>
            <a:endParaRPr lang="en-IN"/>
          </a:p>
        </p:txBody>
      </p:sp>
    </p:spTree>
    <p:extLst>
      <p:ext uri="{BB962C8B-B14F-4D97-AF65-F5344CB8AC3E}">
        <p14:creationId xmlns:p14="http://schemas.microsoft.com/office/powerpoint/2010/main" val="38364599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2D18B60-CA42-293C-8DFB-1DF8EF7E9E2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2D0CED7-C741-627D-7DDB-D599AC51D4D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3A6BDB1-55EE-662D-930B-A1D6BC4B4EA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3C1C7B8-CC8B-48B3-A477-488604BB6ABB}" type="datetimeFigureOut">
              <a:rPr lang="en-IN" smtClean="0"/>
              <a:t>08-05-2026</a:t>
            </a:fld>
            <a:endParaRPr lang="en-IN"/>
          </a:p>
        </p:txBody>
      </p:sp>
      <p:sp>
        <p:nvSpPr>
          <p:cNvPr id="5" name="Footer Placeholder 4">
            <a:extLst>
              <a:ext uri="{FF2B5EF4-FFF2-40B4-BE49-F238E27FC236}">
                <a16:creationId xmlns:a16="http://schemas.microsoft.com/office/drawing/2014/main" id="{8873982D-4531-72E2-F7CD-9E30957A8D7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CBE719C-3EF5-547D-4B82-ECC02D07B57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CFB082-465E-40B3-87D5-342ED6989E64}" type="slidenum">
              <a:rPr lang="en-IN" smtClean="0"/>
              <a:t>‹#›</a:t>
            </a:fld>
            <a:endParaRPr lang="en-IN"/>
          </a:p>
        </p:txBody>
      </p:sp>
    </p:spTree>
    <p:extLst>
      <p:ext uri="{BB962C8B-B14F-4D97-AF65-F5344CB8AC3E}">
        <p14:creationId xmlns:p14="http://schemas.microsoft.com/office/powerpoint/2010/main" val="33708989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3"/>
          <p:cNvSpPr txBox="1">
            <a:spLocks noGrp="1"/>
          </p:cNvSpPr>
          <p:nvPr>
            <p:ph type="ctrTitle"/>
          </p:nvPr>
        </p:nvSpPr>
        <p:spPr>
          <a:xfrm>
            <a:off x="1905000" y="1725800"/>
            <a:ext cx="8763000" cy="2057400"/>
          </a:xfrm>
          <a:prstGeom prst="rect">
            <a:avLst/>
          </a:prstGeom>
          <a:noFill/>
          <a:ln>
            <a:noFill/>
          </a:ln>
        </p:spPr>
        <p:txBody>
          <a:bodyPr spcFirstLastPara="1" vert="horz" wrap="square" lIns="91425" tIns="45700" rIns="91425" bIns="45700" rtlCol="0" anchor="ctr" anchorCtr="0">
            <a:normAutofit/>
          </a:bodyPr>
          <a:lstStyle/>
          <a:p>
            <a:pPr>
              <a:lnSpc>
                <a:spcPct val="100000"/>
              </a:lnSpc>
              <a:spcBef>
                <a:spcPts val="0"/>
              </a:spcBef>
              <a:buClr>
                <a:srgbClr val="000000"/>
              </a:buClr>
              <a:buSzPts val="4400"/>
            </a:pPr>
            <a:br>
              <a:rPr lang="en-US" b="1">
                <a:solidFill>
                  <a:srgbClr val="000000"/>
                </a:solidFill>
                <a:latin typeface="Times New Roman" panose="02020603050405020304"/>
                <a:ea typeface="Times New Roman" panose="02020603050405020304"/>
                <a:cs typeface="Times New Roman" panose="02020603050405020304"/>
                <a:sym typeface="Times New Roman" panose="02020603050405020304"/>
              </a:rPr>
            </a:br>
            <a:r>
              <a:rPr lang="en-US" sz="2800" b="1">
                <a:solidFill>
                  <a:srgbClr val="000000"/>
                </a:solidFill>
                <a:latin typeface="Times New Roman" panose="02020603050405020304"/>
                <a:ea typeface="Times New Roman" panose="02020603050405020304"/>
                <a:cs typeface="Times New Roman" panose="02020603050405020304"/>
                <a:sym typeface="Times New Roman" panose="02020603050405020304"/>
              </a:rPr>
              <a:t>Vidyavardhini’s College of Engineering and Technology</a:t>
            </a:r>
          </a:p>
        </p:txBody>
      </p:sp>
      <p:sp>
        <p:nvSpPr>
          <p:cNvPr id="89" name="Google Shape;89;p13"/>
          <p:cNvSpPr txBox="1">
            <a:spLocks noGrp="1"/>
          </p:cNvSpPr>
          <p:nvPr>
            <p:ph type="subTitle" idx="1"/>
          </p:nvPr>
        </p:nvSpPr>
        <p:spPr>
          <a:xfrm>
            <a:off x="2590800" y="3581400"/>
            <a:ext cx="7391400" cy="685800"/>
          </a:xfrm>
          <a:prstGeom prst="rect">
            <a:avLst/>
          </a:prstGeom>
          <a:noFill/>
          <a:ln>
            <a:noFill/>
          </a:ln>
        </p:spPr>
        <p:txBody>
          <a:bodyPr spcFirstLastPara="1" vert="horz" wrap="square" lIns="91425" tIns="45700" rIns="91425" bIns="45700" rtlCol="0" anchor="t" anchorCtr="0">
            <a:noAutofit/>
          </a:bodyPr>
          <a:lstStyle/>
          <a:p>
            <a:pPr>
              <a:lnSpc>
                <a:spcPct val="100000"/>
              </a:lnSpc>
              <a:spcBef>
                <a:spcPts val="0"/>
              </a:spcBef>
              <a:buClr>
                <a:srgbClr val="888888"/>
              </a:buClr>
              <a:buSzPts val="2800"/>
            </a:pPr>
            <a:r>
              <a:rPr lang="en-US" sz="2800" b="1" dirty="0">
                <a:latin typeface="Times New Roman" panose="02020603050405020304"/>
                <a:ea typeface="Times New Roman" panose="02020603050405020304"/>
                <a:cs typeface="Times New Roman" panose="02020603050405020304"/>
                <a:sym typeface="Times New Roman" panose="02020603050405020304"/>
              </a:rPr>
              <a:t>Department of Computer Engineering</a:t>
            </a:r>
            <a:endParaRPr sz="2800" b="1" dirty="0">
              <a:latin typeface="Times New Roman" panose="02020603050405020304"/>
              <a:ea typeface="Times New Roman" panose="02020603050405020304"/>
              <a:cs typeface="Times New Roman" panose="02020603050405020304"/>
              <a:sym typeface="Times New Roman" panose="02020603050405020304"/>
            </a:endParaRPr>
          </a:p>
        </p:txBody>
      </p:sp>
      <p:sp>
        <p:nvSpPr>
          <p:cNvPr id="90" name="Google Shape;90;p13"/>
          <p:cNvSpPr txBox="1">
            <a:spLocks noGrp="1"/>
          </p:cNvSpPr>
          <p:nvPr>
            <p:ph type="sldNum" idx="12"/>
          </p:nvPr>
        </p:nvSpPr>
        <p:spPr>
          <a:xfrm>
            <a:off x="8077200" y="6356351"/>
            <a:ext cx="2133600" cy="365125"/>
          </a:xfrm>
          <a:prstGeom prst="rect">
            <a:avLst/>
          </a:prstGeom>
          <a:noFill/>
          <a:ln>
            <a:noFill/>
          </a:ln>
        </p:spPr>
        <p:txBody>
          <a:bodyPr spcFirstLastPara="1" vert="horz" wrap="square" lIns="91425" tIns="45700" rIns="91425" bIns="45700" rtlCol="0" anchor="ctr" anchorCtr="0">
            <a:noAutofit/>
          </a:bodyPr>
          <a:lstStyle/>
          <a:p>
            <a:pPr>
              <a:buSzPts val="1200"/>
            </a:pPr>
            <a:fld id="{00000000-1234-1234-1234-123412341234}" type="slidenum">
              <a:rPr lang="en-US"/>
              <a:pPr>
                <a:buSzPts val="1200"/>
              </a:pPr>
              <a:t>1</a:t>
            </a:fld>
            <a:endParaRPr lang="en-US"/>
          </a:p>
        </p:txBody>
      </p:sp>
      <p:pic>
        <p:nvPicPr>
          <p:cNvPr id="91" name="Google Shape;91;p13"/>
          <p:cNvPicPr preferRelativeResize="0"/>
          <p:nvPr/>
        </p:nvPicPr>
        <p:blipFill rotWithShape="1">
          <a:blip r:embed="rId3"/>
          <a:srcRect/>
          <a:stretch>
            <a:fillRect/>
          </a:stretch>
        </p:blipFill>
        <p:spPr>
          <a:xfrm>
            <a:off x="5553076" y="1176951"/>
            <a:ext cx="1561675" cy="15616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ctrTitle"/>
          </p:nvPr>
        </p:nvSpPr>
        <p:spPr>
          <a:xfrm>
            <a:off x="2209800" y="1192193"/>
            <a:ext cx="7772400" cy="1762402"/>
          </a:xfrm>
          <a:prstGeom prst="rect">
            <a:avLst/>
          </a:prstGeom>
          <a:noFill/>
          <a:ln>
            <a:noFill/>
          </a:ln>
        </p:spPr>
        <p:txBody>
          <a:bodyPr spcFirstLastPara="1" vert="horz" wrap="square" lIns="91425" tIns="45700" rIns="91425" bIns="45700" rtlCol="0" anchor="ctr" anchorCtr="0">
            <a:normAutofit fontScale="90000"/>
          </a:bodyPr>
          <a:lstStyle/>
          <a:p>
            <a:r>
              <a:rPr lang="en-US" dirty="0">
                <a:latin typeface="Times New Roman" panose="02020603050405020304"/>
                <a:ea typeface="Times New Roman" panose="02020603050405020304"/>
                <a:cs typeface="Times New Roman" panose="02020603050405020304"/>
                <a:sym typeface="Times New Roman" panose="02020603050405020304"/>
              </a:rPr>
              <a:t>Mini-project presentation on </a:t>
            </a:r>
            <a:br>
              <a:rPr lang="en-US" dirty="0">
                <a:latin typeface="Times New Roman" panose="02020603050405020304"/>
                <a:ea typeface="Times New Roman" panose="02020603050405020304"/>
                <a:cs typeface="Times New Roman" panose="02020603050405020304"/>
                <a:sym typeface="Times New Roman" panose="02020603050405020304"/>
              </a:rPr>
            </a:br>
            <a:br>
              <a:rPr lang="en-IN" sz="1800" dirty="0">
                <a:latin typeface="Calibri" panose="020F0502020204030204" pitchFamily="34" charset="0"/>
                <a:ea typeface="Calibri" panose="020F0502020204030204" pitchFamily="34" charset="0"/>
              </a:rPr>
            </a:br>
            <a:r>
              <a:rPr lang="en-US" sz="3600" b="1" dirty="0">
                <a:latin typeface="Times New Roman" panose="02020603050405020304" pitchFamily="18" charset="0"/>
                <a:ea typeface="Calibri" panose="020F0502020204030204" pitchFamily="34" charset="0"/>
                <a:cs typeface="Times New Roman" panose="02020603050405020304" pitchFamily="18" charset="0"/>
              </a:rPr>
              <a:t> </a:t>
            </a:r>
            <a:r>
              <a:rPr lang="en-US" sz="4400" b="1" dirty="0">
                <a:latin typeface="Times New Roman" panose="02020603050405020304" pitchFamily="18" charset="0"/>
                <a:ea typeface="Times New Roman" panose="02020603050405020304" pitchFamily="18" charset="0"/>
              </a:rPr>
              <a:t>PREDICTING THE SPORT MARKET BUSINESS USING ML</a:t>
            </a:r>
            <a:br>
              <a:rPr lang="en-US" sz="4400" b="1" dirty="0">
                <a:latin typeface="Times New Roman" panose="02020603050405020304" pitchFamily="18" charset="0"/>
                <a:ea typeface="Times New Roman" panose="02020603050405020304" pitchFamily="18" charset="0"/>
              </a:rPr>
            </a:br>
            <a:r>
              <a:rPr lang="en-US" sz="2200" dirty="0">
                <a:latin typeface="Times New Roman" panose="02020603050405020304" pitchFamily="18" charset="0"/>
                <a:ea typeface="Times New Roman" panose="02020603050405020304" pitchFamily="18" charset="0"/>
              </a:rPr>
              <a:t>Industry Project: </a:t>
            </a:r>
            <a:r>
              <a:rPr lang="en-US" sz="2200" dirty="0" err="1">
                <a:latin typeface="Times New Roman" panose="02020603050405020304" pitchFamily="18" charset="0"/>
                <a:ea typeface="Times New Roman" panose="02020603050405020304" pitchFamily="18" charset="0"/>
              </a:rPr>
              <a:t>BinaryStich</a:t>
            </a:r>
            <a:r>
              <a:rPr lang="en-US" sz="2200" dirty="0">
                <a:latin typeface="Times New Roman" panose="02020603050405020304" pitchFamily="18" charset="0"/>
                <a:ea typeface="Times New Roman" panose="02020603050405020304" pitchFamily="18" charset="0"/>
              </a:rPr>
              <a:t> Software Vasai</a:t>
            </a:r>
            <a:br>
              <a:rPr lang="en-IN" sz="1800" dirty="0">
                <a:latin typeface="Calibri" panose="020F0502020204030204" pitchFamily="34" charset="0"/>
                <a:ea typeface="Calibri" panose="020F0502020204030204" pitchFamily="34" charset="0"/>
              </a:rPr>
            </a:br>
            <a:endParaRPr lang="en-US" dirty="0">
              <a:latin typeface="Times New Roman" panose="02020603050405020304"/>
              <a:ea typeface="Times New Roman" panose="02020603050405020304"/>
              <a:cs typeface="Times New Roman" panose="02020603050405020304"/>
              <a:sym typeface="Times New Roman" panose="02020603050405020304"/>
            </a:endParaRPr>
          </a:p>
        </p:txBody>
      </p:sp>
      <p:sp>
        <p:nvSpPr>
          <p:cNvPr id="97" name="Google Shape;97;p14"/>
          <p:cNvSpPr txBox="1">
            <a:spLocks noGrp="1"/>
          </p:cNvSpPr>
          <p:nvPr>
            <p:ph type="subTitle" idx="1"/>
          </p:nvPr>
        </p:nvSpPr>
        <p:spPr>
          <a:xfrm>
            <a:off x="2209800" y="3657600"/>
            <a:ext cx="7772400" cy="3200399"/>
          </a:xfrm>
          <a:prstGeom prst="rect">
            <a:avLst/>
          </a:prstGeom>
          <a:noFill/>
          <a:ln>
            <a:noFill/>
          </a:ln>
        </p:spPr>
        <p:txBody>
          <a:bodyPr spcFirstLastPara="1" vert="horz" wrap="square" lIns="91425" tIns="45700" rIns="91425" bIns="45700" rtlCol="0" anchor="t" anchorCtr="0">
            <a:normAutofit/>
          </a:bodyPr>
          <a:lstStyle/>
          <a:p>
            <a:pPr>
              <a:lnSpc>
                <a:spcPct val="100000"/>
              </a:lnSpc>
              <a:spcBef>
                <a:spcPts val="0"/>
              </a:spcBef>
              <a:buClr>
                <a:srgbClr val="888888"/>
              </a:buClr>
              <a:buSzPct val="100000"/>
            </a:pPr>
            <a:r>
              <a:rPr lang="en-US" dirty="0">
                <a:solidFill>
                  <a:schemeClr val="dk1"/>
                </a:solidFill>
                <a:latin typeface="Times New Roman" panose="02020603050405020304"/>
                <a:ea typeface="Times New Roman" panose="02020603050405020304"/>
                <a:cs typeface="Times New Roman" panose="02020603050405020304"/>
                <a:sym typeface="Times New Roman" panose="02020603050405020304"/>
              </a:rPr>
              <a:t>TEAM MEMBERS</a:t>
            </a:r>
            <a:endParaRPr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algn="ctr"/>
            <a:r>
              <a:rPr lang="en-US" dirty="0">
                <a:latin typeface="Times New Roman" panose="02020603050405020304" pitchFamily="18" charset="0"/>
                <a:ea typeface="Times New Roman" panose="02020603050405020304" pitchFamily="18" charset="0"/>
              </a:rPr>
              <a:t>Paras </a:t>
            </a:r>
            <a:r>
              <a:rPr lang="en-US" dirty="0" err="1">
                <a:latin typeface="Times New Roman" panose="02020603050405020304" pitchFamily="18" charset="0"/>
                <a:ea typeface="Times New Roman" panose="02020603050405020304" pitchFamily="18" charset="0"/>
              </a:rPr>
              <a:t>Adkurkar</a:t>
            </a:r>
            <a:r>
              <a:rPr lang="en-US" dirty="0">
                <a:latin typeface="Times New Roman" panose="02020603050405020304" pitchFamily="18" charset="0"/>
                <a:ea typeface="Times New Roman" panose="02020603050405020304" pitchFamily="18" charset="0"/>
              </a:rPr>
              <a:t> (Roll No. 01)</a:t>
            </a:r>
            <a:endParaRPr lang="en-IN" dirty="0">
              <a:latin typeface="Calibri" panose="020F0502020204030204" pitchFamily="34" charset="0"/>
              <a:ea typeface="Calibri" panose="020F0502020204030204" pitchFamily="34" charset="0"/>
            </a:endParaRPr>
          </a:p>
          <a:p>
            <a:pPr algn="ctr"/>
            <a:r>
              <a:rPr lang="en-US" dirty="0">
                <a:latin typeface="Times New Roman" panose="02020603050405020304" pitchFamily="18" charset="0"/>
                <a:ea typeface="Times New Roman" panose="02020603050405020304" pitchFamily="18" charset="0"/>
              </a:rPr>
              <a:t>Abhishek </a:t>
            </a:r>
            <a:r>
              <a:rPr lang="en-US" dirty="0" err="1">
                <a:latin typeface="Times New Roman" panose="02020603050405020304" pitchFamily="18" charset="0"/>
                <a:ea typeface="Times New Roman" panose="02020603050405020304" pitchFamily="18" charset="0"/>
              </a:rPr>
              <a:t>Barote</a:t>
            </a:r>
            <a:r>
              <a:rPr lang="en-US" dirty="0">
                <a:latin typeface="Times New Roman" panose="02020603050405020304" pitchFamily="18" charset="0"/>
                <a:ea typeface="Times New Roman" panose="02020603050405020304" pitchFamily="18" charset="0"/>
              </a:rPr>
              <a:t> (Roll No. 11)</a:t>
            </a:r>
            <a:endParaRPr lang="en-IN" dirty="0">
              <a:latin typeface="Calibri" panose="020F0502020204030204" pitchFamily="34" charset="0"/>
              <a:ea typeface="Calibri" panose="020F0502020204030204" pitchFamily="34" charset="0"/>
            </a:endParaRPr>
          </a:p>
          <a:p>
            <a:pPr algn="ctr"/>
            <a:r>
              <a:rPr lang="en-US" dirty="0">
                <a:latin typeface="Times New Roman" panose="02020603050405020304" pitchFamily="18" charset="0"/>
                <a:ea typeface="Times New Roman" panose="02020603050405020304" pitchFamily="18" charset="0"/>
              </a:rPr>
              <a:t>Prathmesh </a:t>
            </a:r>
            <a:r>
              <a:rPr lang="en-US" dirty="0" err="1">
                <a:latin typeface="Times New Roman" panose="02020603050405020304" pitchFamily="18" charset="0"/>
                <a:ea typeface="Times New Roman" panose="02020603050405020304" pitchFamily="18" charset="0"/>
              </a:rPr>
              <a:t>Bhoir</a:t>
            </a:r>
            <a:r>
              <a:rPr lang="en-US" dirty="0">
                <a:latin typeface="Times New Roman" panose="02020603050405020304" pitchFamily="18" charset="0"/>
                <a:ea typeface="Times New Roman" panose="02020603050405020304" pitchFamily="18" charset="0"/>
              </a:rPr>
              <a:t> (Roll No. 16)</a:t>
            </a:r>
          </a:p>
          <a:p>
            <a:pPr algn="ctr"/>
            <a:r>
              <a:rPr lang="en-US" dirty="0">
                <a:latin typeface="Times New Roman" panose="02020603050405020304" pitchFamily="18" charset="0"/>
                <a:ea typeface="Calibri" panose="020F0502020204030204" pitchFamily="34" charset="0"/>
              </a:rPr>
              <a:t>Aniket Chavan (Roll No. 24)</a:t>
            </a:r>
          </a:p>
          <a:p>
            <a:pPr algn="ctr"/>
            <a:endParaRPr lang="en-US" dirty="0">
              <a:latin typeface="Times New Roman" panose="02020603050405020304" pitchFamily="18" charset="0"/>
              <a:ea typeface="Calibri" panose="020F0502020204030204" pitchFamily="34" charset="0"/>
            </a:endParaRPr>
          </a:p>
          <a:p>
            <a:pPr algn="ctr"/>
            <a:r>
              <a:rPr lang="en-US" dirty="0">
                <a:latin typeface="Times New Roman" panose="02020603050405020304" pitchFamily="18" charset="0"/>
                <a:ea typeface="Calibri" panose="020F0502020204030204" pitchFamily="34" charset="0"/>
              </a:rPr>
              <a:t>Guide : Prof. Sunil </a:t>
            </a:r>
            <a:r>
              <a:rPr lang="en-US" dirty="0" err="1">
                <a:latin typeface="Times New Roman" panose="02020603050405020304" pitchFamily="18" charset="0"/>
                <a:ea typeface="Calibri" panose="020F0502020204030204" pitchFamily="34" charset="0"/>
              </a:rPr>
              <a:t>Katkar</a:t>
            </a:r>
            <a:endParaRPr lang="en-US" dirty="0">
              <a:latin typeface="Times New Roman" panose="02020603050405020304" pitchFamily="18" charset="0"/>
              <a:ea typeface="Calibri" panose="020F0502020204030204" pitchFamily="34" charset="0"/>
            </a:endParaRPr>
          </a:p>
          <a:p>
            <a:pPr algn="ctr"/>
            <a:endParaRPr lang="en-US" dirty="0">
              <a:latin typeface="Times New Roman" panose="02020603050405020304" pitchFamily="18" charset="0"/>
              <a:ea typeface="Calibri" panose="020F0502020204030204" pitchFamily="34" charset="0"/>
            </a:endParaRPr>
          </a:p>
          <a:p>
            <a:pPr algn="ctr"/>
            <a:endParaRPr lang="en-IN" dirty="0">
              <a:latin typeface="Calibri" panose="020F0502020204030204" pitchFamily="34" charset="0"/>
              <a:ea typeface="Calibri" panose="020F0502020204030204" pitchFamily="34" charset="0"/>
            </a:endParaRPr>
          </a:p>
          <a:p>
            <a:pPr algn="ctr"/>
            <a:endParaRPr lang="en-IN" dirty="0">
              <a:latin typeface="Calibri" panose="020F0502020204030204" pitchFamily="34" charset="0"/>
              <a:ea typeface="Calibri" panose="020F0502020204030204" pitchFamily="34" charset="0"/>
            </a:endParaRPr>
          </a:p>
          <a:p>
            <a:pPr>
              <a:lnSpc>
                <a:spcPct val="100000"/>
              </a:lnSpc>
              <a:spcBef>
                <a:spcPts val="590"/>
              </a:spcBef>
              <a:buClr>
                <a:srgbClr val="888888"/>
              </a:buClr>
              <a:buSzPct val="100000"/>
            </a:pPr>
            <a:endParaRPr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a:lnSpc>
                <a:spcPct val="100000"/>
              </a:lnSpc>
              <a:spcBef>
                <a:spcPts val="590"/>
              </a:spcBef>
              <a:buClr>
                <a:srgbClr val="888888"/>
              </a:buClr>
              <a:buSzPct val="100000"/>
            </a:pPr>
            <a:endParaRPr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8" name="Google Shape;98;p14"/>
          <p:cNvSpPr txBox="1">
            <a:spLocks noGrp="1"/>
          </p:cNvSpPr>
          <p:nvPr>
            <p:ph type="sldNum" idx="12"/>
          </p:nvPr>
        </p:nvSpPr>
        <p:spPr>
          <a:xfrm>
            <a:off x="8077200" y="6356351"/>
            <a:ext cx="2133600" cy="365125"/>
          </a:xfrm>
          <a:prstGeom prst="rect">
            <a:avLst/>
          </a:prstGeom>
          <a:noFill/>
          <a:ln>
            <a:noFill/>
          </a:ln>
        </p:spPr>
        <p:txBody>
          <a:bodyPr spcFirstLastPara="1" vert="horz" wrap="square" lIns="91425" tIns="45700" rIns="91425" bIns="45700" rtlCol="0" anchor="ctr" anchorCtr="0">
            <a:noAutofit/>
          </a:bodyPr>
          <a:lstStyle/>
          <a:p>
            <a:pPr>
              <a:buSzPts val="1200"/>
            </a:pPr>
            <a:fld id="{00000000-1234-1234-1234-123412341234}" type="slidenum">
              <a:rPr lang="en-US"/>
              <a:pPr>
                <a:buSzPts val="120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58F01-9D70-C8FE-89F7-2491A403DEDB}"/>
              </a:ext>
            </a:extLst>
          </p:cNvPr>
          <p:cNvSpPr>
            <a:spLocks noGrp="1"/>
          </p:cNvSpPr>
          <p:nvPr>
            <p:ph type="title"/>
          </p:nvPr>
        </p:nvSpPr>
        <p:spPr>
          <a:xfrm>
            <a:off x="838200" y="365126"/>
            <a:ext cx="10515600" cy="578772"/>
          </a:xfrm>
        </p:spPr>
        <p:txBody>
          <a:bodyPr>
            <a:normAutofit fontScale="90000"/>
          </a:bodyPr>
          <a:lstStyle/>
          <a:p>
            <a:pPr algn="ctr"/>
            <a:r>
              <a:rPr lang="en-US" sz="3600" b="1" dirty="0">
                <a:latin typeface="Times New Roman" panose="02020603050405020304"/>
                <a:ea typeface="Times New Roman" panose="02020603050405020304"/>
                <a:cs typeface="Times New Roman" panose="02020603050405020304"/>
                <a:sym typeface="Times New Roman" panose="02020603050405020304"/>
              </a:rPr>
              <a:t>PROBLEM STATEMENT</a:t>
            </a:r>
            <a:endParaRPr lang="en-IN" sz="3600" dirty="0"/>
          </a:p>
        </p:txBody>
      </p:sp>
      <p:sp>
        <p:nvSpPr>
          <p:cNvPr id="3" name="Content Placeholder 2">
            <a:extLst>
              <a:ext uri="{FF2B5EF4-FFF2-40B4-BE49-F238E27FC236}">
                <a16:creationId xmlns:a16="http://schemas.microsoft.com/office/drawing/2014/main" id="{4BF5CF6F-7ABE-4B18-EEC4-A327E6F84C99}"/>
              </a:ext>
            </a:extLst>
          </p:cNvPr>
          <p:cNvSpPr>
            <a:spLocks noGrp="1"/>
          </p:cNvSpPr>
          <p:nvPr>
            <p:ph idx="1"/>
          </p:nvPr>
        </p:nvSpPr>
        <p:spPr>
          <a:xfrm>
            <a:off x="838200" y="943898"/>
            <a:ext cx="10515600" cy="5233065"/>
          </a:xfrm>
        </p:spPr>
        <p:txBody>
          <a:bodyPr>
            <a:normAutofit fontScale="92500" lnSpcReduction="10000"/>
          </a:bodyPr>
          <a:lstStyle/>
          <a:p>
            <a:pPr marL="457200" algn="just">
              <a:spcBef>
                <a:spcPts val="0"/>
              </a:spcBef>
            </a:pPr>
            <a:endParaRPr lang="en-US" sz="600" dirty="0">
              <a:solidFill>
                <a:schemeClr val="dk1"/>
              </a:solidFill>
              <a:latin typeface="Times New Roman" panose="02020603050405020304"/>
              <a:ea typeface="Times New Roman" panose="02020603050405020304"/>
              <a:cs typeface="Times New Roman" panose="02020603050405020304"/>
              <a:sym typeface="Times New Roman" panose="02020603050405020304"/>
            </a:endParaRPr>
          </a:p>
          <a:p>
            <a:pPr marL="0" indent="0" algn="just">
              <a:buNone/>
            </a:pPr>
            <a:r>
              <a:rPr lang="en-US" dirty="0"/>
              <a:t>The sports industry faces major challenges in accurately predicting market dynamics such as ticket sales, merchandise demand, sponsorship ROI, and broadcast viewership. Traditional methods rely on intuition and static reports rather than data-driven  insights.</a:t>
            </a:r>
          </a:p>
          <a:p>
            <a:pPr marL="0" indent="0" algn="just">
              <a:buNone/>
            </a:pPr>
            <a:endParaRPr lang="en-US" dirty="0"/>
          </a:p>
          <a:p>
            <a:pPr algn="just"/>
            <a:r>
              <a:rPr lang="en-US" dirty="0"/>
              <a:t>This leads to:</a:t>
            </a:r>
          </a:p>
          <a:p>
            <a:pPr marL="342900" indent="-342900" algn="just"/>
            <a:r>
              <a:rPr lang="en-US" dirty="0"/>
              <a:t>Unpredictable revenue fluctuations</a:t>
            </a:r>
          </a:p>
          <a:p>
            <a:pPr marL="342900" indent="-342900" algn="just"/>
            <a:r>
              <a:rPr lang="en-US" dirty="0"/>
              <a:t>Inefficient inventory and resource allocation</a:t>
            </a:r>
          </a:p>
          <a:p>
            <a:pPr marL="342900" indent="-342900" algn="just"/>
            <a:r>
              <a:rPr lang="en-US" dirty="0"/>
              <a:t>Missed marketing and sponsorship opportunities</a:t>
            </a:r>
          </a:p>
          <a:p>
            <a:pPr algn="just"/>
            <a:endParaRPr lang="en-US" dirty="0"/>
          </a:p>
          <a:p>
            <a:pPr marL="0" indent="0" algn="just">
              <a:buNone/>
            </a:pPr>
            <a:r>
              <a:rPr lang="en-US" dirty="0"/>
              <a:t>Machine Learning can address these challenges by uncovering hidden patterns in large datasets to make reliable and real-time predictions.</a:t>
            </a:r>
          </a:p>
          <a:p>
            <a:pPr algn="just">
              <a:lnSpc>
                <a:spcPct val="100000"/>
              </a:lnSpc>
              <a:spcBef>
                <a:spcPts val="0"/>
              </a:spcBef>
              <a:buClr>
                <a:srgbClr val="888888"/>
              </a:buClr>
              <a:buSzPts val="2400"/>
            </a:pPr>
            <a:endParaRPr lang="en-US" dirty="0">
              <a:latin typeface="Times New Roman" panose="02020603050405020304" pitchFamily="18" charset="0"/>
              <a:ea typeface="Times New Roman" panose="02020603050405020304" pitchFamily="18" charset="0"/>
              <a:cs typeface="Times New Roman" panose="02020603050405020304"/>
              <a:sym typeface="Times New Roman" panose="02020603050405020304"/>
            </a:endParaRPr>
          </a:p>
          <a:p>
            <a:endParaRPr lang="en-IN" dirty="0"/>
          </a:p>
        </p:txBody>
      </p:sp>
    </p:spTree>
    <p:extLst>
      <p:ext uri="{BB962C8B-B14F-4D97-AF65-F5344CB8AC3E}">
        <p14:creationId xmlns:p14="http://schemas.microsoft.com/office/powerpoint/2010/main" val="28659382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6"/>
          <p:cNvSpPr txBox="1">
            <a:spLocks noGrp="1"/>
          </p:cNvSpPr>
          <p:nvPr>
            <p:ph type="title"/>
          </p:nvPr>
        </p:nvSpPr>
        <p:spPr>
          <a:xfrm>
            <a:off x="838200" y="365127"/>
            <a:ext cx="10515600" cy="706590"/>
          </a:xfrm>
          <a:prstGeom prst="rect">
            <a:avLst/>
          </a:prstGeom>
        </p:spPr>
        <p:txBody>
          <a:bodyPr>
            <a:normAutofit/>
          </a:bodyPr>
          <a:lstStyle/>
          <a:p>
            <a:pPr lvl="0" algn="ctr"/>
            <a:r>
              <a:rPr lang="en-US" sz="3200" b="1" dirty="0">
                <a:latin typeface="Times New Roman" panose="02020603050405020304" pitchFamily="18" charset="0"/>
                <a:cs typeface="Times New Roman" panose="02020603050405020304" pitchFamily="18" charset="0"/>
              </a:rPr>
              <a:t>OBJECTIVES</a:t>
            </a:r>
          </a:p>
        </p:txBody>
      </p:sp>
      <p:sp>
        <p:nvSpPr>
          <p:cNvPr id="111" name="Google Shape;111;p16"/>
          <p:cNvSpPr txBox="1">
            <a:spLocks noGrp="1"/>
          </p:cNvSpPr>
          <p:nvPr>
            <p:ph type="body" idx="1"/>
          </p:nvPr>
        </p:nvSpPr>
        <p:spPr>
          <a:xfrm>
            <a:off x="688257" y="1071717"/>
            <a:ext cx="10943303" cy="4444180"/>
          </a:xfrm>
          <a:prstGeom prst="rect">
            <a:avLst/>
          </a:prstGeom>
        </p:spPr>
        <p:txBody>
          <a:bodyPr>
            <a:normAutofit/>
          </a:bodyPr>
          <a:lstStyle/>
          <a:p>
            <a:pPr marL="0" lvl="0" indent="0" eaLnBrk="0" fontAlgn="base" hangingPunct="0">
              <a:lnSpc>
                <a:spcPct val="100000"/>
              </a:lnSpc>
              <a:spcBef>
                <a:spcPct val="0"/>
              </a:spcBef>
              <a:spcAft>
                <a:spcPct val="0"/>
              </a:spcAft>
              <a:buFontTx/>
              <a:buChar char="•"/>
            </a:pPr>
            <a:r>
              <a:rPr lang="en-US" altLang="en-US" sz="2600" dirty="0">
                <a:latin typeface="Arial" panose="020B0604020202020204" pitchFamily="34" charset="0"/>
              </a:rPr>
              <a:t>To develop predictive models for forecasting sports market trends.</a:t>
            </a:r>
          </a:p>
          <a:p>
            <a:pPr marL="0" lvl="0" indent="0" eaLnBrk="0" fontAlgn="base" hangingPunct="0">
              <a:lnSpc>
                <a:spcPct val="100000"/>
              </a:lnSpc>
              <a:spcBef>
                <a:spcPct val="0"/>
              </a:spcBef>
              <a:spcAft>
                <a:spcPct val="0"/>
              </a:spcAft>
              <a:buFontTx/>
              <a:buChar char="•"/>
            </a:pPr>
            <a:r>
              <a:rPr lang="en-US" altLang="en-US" sz="2600" dirty="0">
                <a:latin typeface="Arial" panose="020B0604020202020204" pitchFamily="34" charset="0"/>
              </a:rPr>
              <a:t>To analyze the impact of team performance, fan sentiment, and marketing efforts on business outcomes.</a:t>
            </a:r>
          </a:p>
          <a:p>
            <a:pPr marL="0" lvl="0" indent="0" eaLnBrk="0" fontAlgn="base" hangingPunct="0">
              <a:lnSpc>
                <a:spcPct val="100000"/>
              </a:lnSpc>
              <a:spcBef>
                <a:spcPct val="0"/>
              </a:spcBef>
              <a:spcAft>
                <a:spcPct val="0"/>
              </a:spcAft>
              <a:buFontTx/>
              <a:buChar char="•"/>
            </a:pPr>
            <a:r>
              <a:rPr lang="en-US" altLang="en-US" sz="2600" dirty="0">
                <a:latin typeface="Arial" panose="020B0604020202020204" pitchFamily="34" charset="0"/>
              </a:rPr>
              <a:t>To optimize ticket pricing, merchandise planning, and sponsorship strategies using ML predictions.</a:t>
            </a:r>
          </a:p>
          <a:p>
            <a:pPr marL="0" lvl="0" indent="0" eaLnBrk="0" fontAlgn="base" hangingPunct="0">
              <a:lnSpc>
                <a:spcPct val="100000"/>
              </a:lnSpc>
              <a:spcBef>
                <a:spcPct val="0"/>
              </a:spcBef>
              <a:spcAft>
                <a:spcPct val="0"/>
              </a:spcAft>
              <a:buFontTx/>
              <a:buChar char="•"/>
            </a:pPr>
            <a:r>
              <a:rPr lang="en-US" altLang="en-US" sz="2600" dirty="0">
                <a:latin typeface="Arial" panose="020B0604020202020204" pitchFamily="34" charset="0"/>
              </a:rPr>
              <a:t>To design a dashboard or automated system for decision-makers in the sports industry.</a:t>
            </a:r>
          </a:p>
          <a:p>
            <a:pPr lvl="0"/>
            <a:endParaRPr lang="en-US" dirty="0"/>
          </a:p>
          <a:p>
            <a:pPr lvl="0"/>
            <a:endParaRPr lang="en-US" dirty="0"/>
          </a:p>
          <a:p>
            <a:pPr lvl="0"/>
            <a:endParaRPr lang="en-US" dirty="0"/>
          </a:p>
          <a:p>
            <a:pPr lvl="0"/>
            <a:endParaRPr lang="en-US" dirty="0"/>
          </a:p>
          <a:p>
            <a:pPr lvl="0"/>
            <a:endParaRPr lang="en-US" dirty="0"/>
          </a:p>
          <a:p>
            <a:pPr marL="457200" indent="-387350">
              <a:lnSpc>
                <a:spcPct val="100000"/>
              </a:lnSpc>
              <a:spcBef>
                <a:spcPts val="0"/>
              </a:spcBef>
              <a:buSzPts val="2500"/>
              <a:buFont typeface="Times New Roman" panose="02020603050405020304"/>
              <a:buChar char="•"/>
            </a:pPr>
            <a:endParaRPr lang="en-US" dirty="0"/>
          </a:p>
        </p:txBody>
      </p:sp>
      <p:sp>
        <p:nvSpPr>
          <p:cNvPr id="112" name="Google Shape;112;p16"/>
          <p:cNvSpPr txBox="1">
            <a:spLocks noGrp="1"/>
          </p:cNvSpPr>
          <p:nvPr>
            <p:ph type="sldNum" idx="12"/>
          </p:nvPr>
        </p:nvSpPr>
        <p:spPr>
          <a:prstGeom prst="rect">
            <a:avLst/>
          </a:prstGeom>
        </p:spPr>
        <p:txBody>
          <a:bodyPr/>
          <a:lstStyle/>
          <a:p>
            <a:pPr lvl="0"/>
            <a:r>
              <a:rPr lang="en-US"/>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65C6BA-2C2F-991C-450D-4ADBD55187BB}"/>
              </a:ext>
            </a:extLst>
          </p:cNvPr>
          <p:cNvSpPr>
            <a:spLocks noGrp="1"/>
          </p:cNvSpPr>
          <p:nvPr>
            <p:ph type="title"/>
          </p:nvPr>
        </p:nvSpPr>
        <p:spPr>
          <a:xfrm>
            <a:off x="838200" y="365126"/>
            <a:ext cx="10515600" cy="693654"/>
          </a:xfrm>
        </p:spPr>
        <p:txBody>
          <a:bodyPr>
            <a:normAutofit/>
          </a:bodyPr>
          <a:lstStyle/>
          <a:p>
            <a:pPr algn="ctr"/>
            <a:r>
              <a:rPr lang="en-IN" sz="3600" b="1" dirty="0">
                <a:latin typeface="Times New Roman" panose="02020603050405020304" pitchFamily="18" charset="0"/>
                <a:cs typeface="Times New Roman" panose="02020603050405020304" pitchFamily="18" charset="0"/>
              </a:rPr>
              <a:t>PROPOSED SOLUTION</a:t>
            </a:r>
          </a:p>
        </p:txBody>
      </p:sp>
      <p:sp>
        <p:nvSpPr>
          <p:cNvPr id="3" name="Content Placeholder 2">
            <a:extLst>
              <a:ext uri="{FF2B5EF4-FFF2-40B4-BE49-F238E27FC236}">
                <a16:creationId xmlns:a16="http://schemas.microsoft.com/office/drawing/2014/main" id="{F3BD9C3C-B976-A0E4-7FFF-8A110D7A1D9B}"/>
              </a:ext>
            </a:extLst>
          </p:cNvPr>
          <p:cNvSpPr>
            <a:spLocks noGrp="1"/>
          </p:cNvSpPr>
          <p:nvPr>
            <p:ph idx="1"/>
          </p:nvPr>
        </p:nvSpPr>
        <p:spPr>
          <a:xfrm>
            <a:off x="838200" y="1058780"/>
            <a:ext cx="10515600" cy="5118183"/>
          </a:xfrm>
        </p:spPr>
        <p:txBody>
          <a:bodyPr/>
          <a:lstStyle/>
          <a:p>
            <a:r>
              <a:rPr lang="en-US" sz="2600" dirty="0"/>
              <a:t>Collect and analyze multi-source data including match statistics, ticket sales, fan engagement, and social media sentiment.</a:t>
            </a:r>
          </a:p>
          <a:p>
            <a:r>
              <a:rPr lang="en-US" sz="2600" dirty="0"/>
              <a:t>Apply Machine Learning algorithms such as Random Forest, </a:t>
            </a:r>
            <a:r>
              <a:rPr lang="en-US" sz="2600" dirty="0" err="1"/>
              <a:t>XGBoost</a:t>
            </a:r>
            <a:r>
              <a:rPr lang="en-US" sz="2600" dirty="0"/>
              <a:t>, and LSTM for trend forecasting.</a:t>
            </a:r>
          </a:p>
          <a:p>
            <a:r>
              <a:rPr lang="en-US" sz="2600" dirty="0"/>
              <a:t>Build a predictive model that outputs ticket demand, merchandise sales, and ROI estimates.</a:t>
            </a:r>
          </a:p>
          <a:p>
            <a:r>
              <a:rPr lang="en-US" sz="2600" dirty="0"/>
              <a:t>Visualize predictions through an interactive dashboard (</a:t>
            </a:r>
            <a:r>
              <a:rPr lang="en-US" sz="2600" dirty="0" err="1"/>
              <a:t>Streamlit</a:t>
            </a:r>
            <a:r>
              <a:rPr lang="en-US" sz="2600" dirty="0"/>
              <a:t>/Flask) for stakeholders.</a:t>
            </a:r>
          </a:p>
          <a:p>
            <a:pPr marL="0" indent="0">
              <a:buNone/>
            </a:pPr>
            <a:endParaRPr lang="en-US" b="1" dirty="0"/>
          </a:p>
          <a:p>
            <a:pPr marL="0" indent="0">
              <a:buNone/>
            </a:pPr>
            <a:r>
              <a:rPr lang="en-US" sz="2600" b="1" dirty="0"/>
              <a:t>Outcome:</a:t>
            </a:r>
            <a:r>
              <a:rPr lang="en-US" sz="2600" dirty="0"/>
              <a:t> Data-driven decision support system for sports business forecasting.</a:t>
            </a:r>
          </a:p>
          <a:p>
            <a:endParaRPr lang="en-IN" dirty="0"/>
          </a:p>
        </p:txBody>
      </p:sp>
    </p:spTree>
    <p:extLst>
      <p:ext uri="{BB962C8B-B14F-4D97-AF65-F5344CB8AC3E}">
        <p14:creationId xmlns:p14="http://schemas.microsoft.com/office/powerpoint/2010/main" val="32941463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7"/>
          <p:cNvSpPr txBox="1">
            <a:spLocks noGrp="1"/>
          </p:cNvSpPr>
          <p:nvPr>
            <p:ph type="ctrTitle"/>
          </p:nvPr>
        </p:nvSpPr>
        <p:spPr>
          <a:xfrm>
            <a:off x="2209800" y="228601"/>
            <a:ext cx="7772400" cy="867474"/>
          </a:xfrm>
          <a:prstGeom prst="rect">
            <a:avLst/>
          </a:prstGeom>
          <a:noFill/>
          <a:ln>
            <a:noFill/>
          </a:ln>
        </p:spPr>
        <p:txBody>
          <a:bodyPr spcFirstLastPara="1" vert="horz" wrap="square" lIns="91425" tIns="45700" rIns="91425" bIns="45700" rtlCol="0" anchor="ctr" anchorCtr="0">
            <a:normAutofit/>
          </a:bodyPr>
          <a:lstStyle/>
          <a:p>
            <a:pPr>
              <a:lnSpc>
                <a:spcPct val="100000"/>
              </a:lnSpc>
              <a:spcBef>
                <a:spcPts val="0"/>
              </a:spcBef>
              <a:buClr>
                <a:schemeClr val="dk1"/>
              </a:buClr>
              <a:buSzPts val="3600"/>
            </a:pPr>
            <a:r>
              <a:rPr lang="en-US" sz="3600" b="1" dirty="0">
                <a:latin typeface="Times New Roman" panose="02020603050405020304"/>
                <a:ea typeface="Times New Roman" panose="02020603050405020304"/>
                <a:cs typeface="Times New Roman" panose="02020603050405020304"/>
                <a:sym typeface="Times New Roman" panose="02020603050405020304"/>
              </a:rPr>
              <a:t>IMPLEMENTATION PROCESS</a:t>
            </a:r>
            <a:endParaRPr b="1" dirty="0"/>
          </a:p>
        </p:txBody>
      </p:sp>
      <p:sp>
        <p:nvSpPr>
          <p:cNvPr id="118" name="Google Shape;118;p17"/>
          <p:cNvSpPr txBox="1">
            <a:spLocks noGrp="1"/>
          </p:cNvSpPr>
          <p:nvPr>
            <p:ph type="subTitle" idx="1"/>
          </p:nvPr>
        </p:nvSpPr>
        <p:spPr>
          <a:xfrm>
            <a:off x="2057400" y="1096075"/>
            <a:ext cx="8305800" cy="5304600"/>
          </a:xfrm>
          <a:prstGeom prst="rect">
            <a:avLst/>
          </a:prstGeom>
          <a:noFill/>
          <a:ln>
            <a:noFill/>
          </a:ln>
        </p:spPr>
        <p:txBody>
          <a:bodyPr spcFirstLastPara="1" vert="horz" wrap="square" lIns="91425" tIns="45700" rIns="91425" bIns="45700" rtlCol="0" anchor="t" anchorCtr="0">
            <a:normAutofit/>
          </a:bodyPr>
          <a:lstStyle/>
          <a:p>
            <a:pPr>
              <a:lnSpc>
                <a:spcPct val="100000"/>
              </a:lnSpc>
              <a:spcBef>
                <a:spcPts val="0"/>
              </a:spcBef>
              <a:buClr>
                <a:srgbClr val="888888"/>
              </a:buClr>
              <a:buSzPts val="2400"/>
            </a:pPr>
            <a:endParaRPr dirty="0">
              <a:latin typeface="Times New Roman" panose="02020603050405020304"/>
              <a:ea typeface="Times New Roman" panose="02020603050405020304"/>
              <a:cs typeface="Times New Roman" panose="02020603050405020304"/>
              <a:sym typeface="Times New Roman" panose="02020603050405020304"/>
            </a:endParaRPr>
          </a:p>
        </p:txBody>
      </p:sp>
      <p:sp>
        <p:nvSpPr>
          <p:cNvPr id="119" name="Google Shape;119;p17"/>
          <p:cNvSpPr txBox="1">
            <a:spLocks noGrp="1"/>
          </p:cNvSpPr>
          <p:nvPr>
            <p:ph type="sldNum" idx="12"/>
          </p:nvPr>
        </p:nvSpPr>
        <p:spPr>
          <a:xfrm>
            <a:off x="8077200" y="6356351"/>
            <a:ext cx="2133600" cy="365125"/>
          </a:xfrm>
          <a:prstGeom prst="rect">
            <a:avLst/>
          </a:prstGeom>
          <a:noFill/>
          <a:ln>
            <a:noFill/>
          </a:ln>
        </p:spPr>
        <p:txBody>
          <a:bodyPr spcFirstLastPara="1" vert="horz" wrap="square" lIns="91425" tIns="45700" rIns="91425" bIns="45700" rtlCol="0" anchor="ctr" anchorCtr="0">
            <a:noAutofit/>
          </a:bodyPr>
          <a:lstStyle/>
          <a:p>
            <a:pPr>
              <a:buSzPts val="1200"/>
            </a:pPr>
            <a:fld id="{00000000-1234-1234-1234-123412341234}" type="slidenum">
              <a:rPr lang="en-US"/>
              <a:pPr>
                <a:buSzPts val="1200"/>
              </a:pPr>
              <a:t>6</a:t>
            </a:fld>
            <a:endParaRPr lang="en-US"/>
          </a:p>
        </p:txBody>
      </p:sp>
      <p:pic>
        <p:nvPicPr>
          <p:cNvPr id="3" name="Picture 2">
            <a:extLst>
              <a:ext uri="{FF2B5EF4-FFF2-40B4-BE49-F238E27FC236}">
                <a16:creationId xmlns:a16="http://schemas.microsoft.com/office/drawing/2014/main" id="{B2E6FF0A-F45D-17A0-8899-03421E3091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47768" y="953730"/>
            <a:ext cx="4817805" cy="590427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946AA-DA83-B17F-316B-848D8A660112}"/>
              </a:ext>
            </a:extLst>
          </p:cNvPr>
          <p:cNvSpPr>
            <a:spLocks noGrp="1"/>
          </p:cNvSpPr>
          <p:nvPr>
            <p:ph type="title"/>
          </p:nvPr>
        </p:nvSpPr>
        <p:spPr>
          <a:xfrm>
            <a:off x="838200" y="365126"/>
            <a:ext cx="10515600" cy="745920"/>
          </a:xfrm>
        </p:spPr>
        <p:txBody>
          <a:bodyPr>
            <a:normAutofit/>
          </a:bodyPr>
          <a:lstStyle/>
          <a:p>
            <a:pPr algn="ctr"/>
            <a:r>
              <a:rPr lang="en-US" sz="3600" b="1" dirty="0">
                <a:latin typeface="Times New Roman" panose="02020603050405020304"/>
                <a:ea typeface="Times New Roman" panose="02020603050405020304"/>
                <a:cs typeface="Times New Roman" panose="02020603050405020304"/>
                <a:sym typeface="Times New Roman" panose="02020603050405020304"/>
              </a:rPr>
              <a:t>TECHNOLOGIES USED</a:t>
            </a:r>
            <a:endParaRPr lang="en-IN" sz="3600" b="1" dirty="0"/>
          </a:p>
        </p:txBody>
      </p:sp>
      <p:graphicFrame>
        <p:nvGraphicFramePr>
          <p:cNvPr id="4" name="Content Placeholder 3">
            <a:extLst>
              <a:ext uri="{FF2B5EF4-FFF2-40B4-BE49-F238E27FC236}">
                <a16:creationId xmlns:a16="http://schemas.microsoft.com/office/drawing/2014/main" id="{1EDF0FCC-12F5-45CE-7142-4DBB2FC36178}"/>
              </a:ext>
            </a:extLst>
          </p:cNvPr>
          <p:cNvGraphicFramePr>
            <a:graphicFrameLocks noGrp="1"/>
          </p:cNvGraphicFramePr>
          <p:nvPr>
            <p:ph idx="1"/>
            <p:extLst>
              <p:ext uri="{D42A27DB-BD31-4B8C-83A1-F6EECF244321}">
                <p14:modId xmlns:p14="http://schemas.microsoft.com/office/powerpoint/2010/main" val="1122739005"/>
              </p:ext>
            </p:extLst>
          </p:nvPr>
        </p:nvGraphicFramePr>
        <p:xfrm>
          <a:off x="838200" y="1111046"/>
          <a:ext cx="10884311" cy="5112774"/>
        </p:xfrm>
        <a:graphic>
          <a:graphicData uri="http://schemas.openxmlformats.org/drawingml/2006/table">
            <a:tbl>
              <a:tblPr/>
              <a:tblGrid>
                <a:gridCol w="3193026">
                  <a:extLst>
                    <a:ext uri="{9D8B030D-6E8A-4147-A177-3AD203B41FA5}">
                      <a16:colId xmlns:a16="http://schemas.microsoft.com/office/drawing/2014/main" val="2670578770"/>
                    </a:ext>
                  </a:extLst>
                </a:gridCol>
                <a:gridCol w="7691285">
                  <a:extLst>
                    <a:ext uri="{9D8B030D-6E8A-4147-A177-3AD203B41FA5}">
                      <a16:colId xmlns:a16="http://schemas.microsoft.com/office/drawing/2014/main" val="1764756429"/>
                    </a:ext>
                  </a:extLst>
                </a:gridCol>
              </a:tblGrid>
              <a:tr h="681703">
                <a:tc>
                  <a:txBody>
                    <a:bodyPr/>
                    <a:lstStyle/>
                    <a:p>
                      <a:pPr>
                        <a:buNone/>
                      </a:pPr>
                      <a:r>
                        <a:rPr lang="en-IN" sz="2000" b="1" dirty="0"/>
                        <a:t>Category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2000" b="1" dirty="0"/>
                        <a:t>Technologies / Tools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5961609"/>
                  </a:ext>
                </a:extLst>
              </a:tr>
              <a:tr h="681703">
                <a:tc>
                  <a:txBody>
                    <a:bodyPr/>
                    <a:lstStyle/>
                    <a:p>
                      <a:pPr>
                        <a:buNone/>
                      </a:pPr>
                      <a:r>
                        <a:rPr lang="en-IN" sz="2000" b="1" dirty="0"/>
                        <a:t>Programming Language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Python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01417975"/>
                  </a:ext>
                </a:extLst>
              </a:tr>
              <a:tr h="1192981">
                <a:tc>
                  <a:txBody>
                    <a:bodyPr/>
                    <a:lstStyle/>
                    <a:p>
                      <a:pPr>
                        <a:buNone/>
                      </a:pPr>
                      <a:r>
                        <a:rPr lang="en-IN" sz="2000" b="1" dirty="0"/>
                        <a:t>Libraries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a:t>Pandas, NumPy, Scikit-learn, </a:t>
                      </a:r>
                      <a:r>
                        <a:rPr lang="en-IN" dirty="0" err="1"/>
                        <a:t>XGBoost</a:t>
                      </a:r>
                      <a:r>
                        <a:rPr lang="en-IN" dirty="0"/>
                        <a:t>, TensorFlow / </a:t>
                      </a:r>
                      <a:r>
                        <a:rPr lang="en-IN" dirty="0" err="1"/>
                        <a:t>Keras</a:t>
                      </a:r>
                      <a:r>
                        <a:rPr lang="en-IN" dirty="0"/>
                        <a:t>, etc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76324755"/>
                  </a:ext>
                </a:extLst>
              </a:tr>
              <a:tr h="681703">
                <a:tc>
                  <a:txBody>
                    <a:bodyPr/>
                    <a:lstStyle/>
                    <a:p>
                      <a:pPr>
                        <a:buNone/>
                      </a:pPr>
                      <a:r>
                        <a:rPr lang="en-IN" sz="2000" b="1" dirty="0"/>
                        <a:t>Data Visualization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a:t>Matplotlib, Seaborn, Plotly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80462581"/>
                  </a:ext>
                </a:extLst>
              </a:tr>
              <a:tr h="681703">
                <a:tc>
                  <a:txBody>
                    <a:bodyPr/>
                    <a:lstStyle/>
                    <a:p>
                      <a:pPr>
                        <a:buNone/>
                      </a:pPr>
                      <a:r>
                        <a:rPr lang="en-IN" sz="2000" b="1" dirty="0"/>
                        <a:t>Deployment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dirty="0" err="1"/>
                        <a:t>Streamlit</a:t>
                      </a:r>
                      <a:r>
                        <a:rPr lang="en-IN" dirty="0"/>
                        <a:t> / Flask</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49905982"/>
                  </a:ext>
                </a:extLst>
              </a:tr>
              <a:tr h="1192981">
                <a:tc>
                  <a:txBody>
                    <a:bodyPr/>
                    <a:lstStyle/>
                    <a:p>
                      <a:pPr>
                        <a:buNone/>
                      </a:pPr>
                      <a:r>
                        <a:rPr lang="en-IN" sz="2000" b="1" dirty="0"/>
                        <a:t>Data Sources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dirty="0"/>
                        <a:t>Sports APIs, Social Media(API), Ticketing Databases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826695270"/>
                  </a:ext>
                </a:extLst>
              </a:tr>
            </a:tbl>
          </a:graphicData>
        </a:graphic>
      </p:graphicFrame>
    </p:spTree>
    <p:extLst>
      <p:ext uri="{BB962C8B-B14F-4D97-AF65-F5344CB8AC3E}">
        <p14:creationId xmlns:p14="http://schemas.microsoft.com/office/powerpoint/2010/main" val="23641554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6BA034-2791-DE99-ADB4-9ACB27901B2A}"/>
              </a:ext>
            </a:extLst>
          </p:cNvPr>
          <p:cNvSpPr>
            <a:spLocks noGrp="1"/>
          </p:cNvSpPr>
          <p:nvPr>
            <p:ph type="title"/>
          </p:nvPr>
        </p:nvSpPr>
        <p:spPr>
          <a:xfrm>
            <a:off x="838200" y="365125"/>
            <a:ext cx="10515600" cy="686927"/>
          </a:xfrm>
        </p:spPr>
        <p:txBody>
          <a:bodyPr>
            <a:normAutofit/>
          </a:bodyPr>
          <a:lstStyle/>
          <a:p>
            <a:r>
              <a:rPr lang="en-US" sz="3600" b="1" dirty="0">
                <a:latin typeface="Times New Roman" panose="02020603050405020304"/>
                <a:ea typeface="Times New Roman" panose="02020603050405020304"/>
                <a:cs typeface="Times New Roman" panose="02020603050405020304"/>
                <a:sym typeface="Times New Roman" panose="02020603050405020304"/>
              </a:rPr>
              <a:t>SCOPE OF PROJECT</a:t>
            </a:r>
            <a:endParaRPr lang="en-IN" sz="3600" dirty="0"/>
          </a:p>
        </p:txBody>
      </p:sp>
      <p:sp>
        <p:nvSpPr>
          <p:cNvPr id="3" name="Content Placeholder 2">
            <a:extLst>
              <a:ext uri="{FF2B5EF4-FFF2-40B4-BE49-F238E27FC236}">
                <a16:creationId xmlns:a16="http://schemas.microsoft.com/office/drawing/2014/main" id="{51690904-C65E-CDF9-615E-76267E1DEC15}"/>
              </a:ext>
            </a:extLst>
          </p:cNvPr>
          <p:cNvSpPr>
            <a:spLocks noGrp="1"/>
          </p:cNvSpPr>
          <p:nvPr>
            <p:ph idx="1"/>
          </p:nvPr>
        </p:nvSpPr>
        <p:spPr>
          <a:xfrm>
            <a:off x="838200" y="1052052"/>
            <a:ext cx="10515600" cy="5124911"/>
          </a:xfrm>
        </p:spPr>
        <p:txBody>
          <a:bodyPr>
            <a:noAutofit/>
          </a:bodyPr>
          <a:lstStyle/>
          <a:p>
            <a:r>
              <a:rPr lang="en-US" sz="2600" dirty="0"/>
              <a:t>Applicable to sports leagues, teams, merchandise retailers, and broadcasters.</a:t>
            </a:r>
          </a:p>
          <a:p>
            <a:r>
              <a:rPr lang="en-US" sz="2600" dirty="0"/>
              <a:t>Scalable for multiple sports (cricket, football, basketball, etc.).</a:t>
            </a:r>
          </a:p>
          <a:p>
            <a:r>
              <a:rPr lang="en-US" sz="2600" dirty="0"/>
              <a:t>Future expansion to include real-time analytics and reinforcement learning models.</a:t>
            </a:r>
          </a:p>
          <a:p>
            <a:r>
              <a:rPr lang="en-US" sz="2600" dirty="0"/>
              <a:t>Can support strategic decision-making for marketing, event management, and sponsorship evaluation.</a:t>
            </a:r>
            <a:endParaRPr lang="en-IN" sz="2600" dirty="0"/>
          </a:p>
        </p:txBody>
      </p:sp>
    </p:spTree>
    <p:extLst>
      <p:ext uri="{BB962C8B-B14F-4D97-AF65-F5344CB8AC3E}">
        <p14:creationId xmlns:p14="http://schemas.microsoft.com/office/powerpoint/2010/main" val="424009962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74</TotalTime>
  <Words>394</Words>
  <Application>Microsoft Office PowerPoint</Application>
  <PresentationFormat>Widescreen</PresentationFormat>
  <Paragraphs>62</Paragraphs>
  <Slides>8</Slides>
  <Notes>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Calibri Light</vt:lpstr>
      <vt:lpstr>Times New Roman</vt:lpstr>
      <vt:lpstr>Office Theme</vt:lpstr>
      <vt:lpstr> Vidyavardhini’s College of Engineering and Technology</vt:lpstr>
      <vt:lpstr>Mini-project presentation on    PREDICTING THE SPORT MARKET BUSINESS USING ML Industry Project: BinaryStich Software Vasai </vt:lpstr>
      <vt:lpstr>PROBLEM STATEMENT</vt:lpstr>
      <vt:lpstr>OBJECTIVES</vt:lpstr>
      <vt:lpstr>PROPOSED SOLUTION</vt:lpstr>
      <vt:lpstr>IMPLEMENTATION PROCESS</vt:lpstr>
      <vt:lpstr>TECHNOLOGIES USED</vt:lpstr>
      <vt:lpstr>SCOPE OF PROJECT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Prathmesh Bhoir</dc:creator>
  <cp:lastModifiedBy>Prathmesh Bhoir</cp:lastModifiedBy>
  <cp:revision>2</cp:revision>
  <dcterms:created xsi:type="dcterms:W3CDTF">2025-10-29T10:20:17Z</dcterms:created>
  <dcterms:modified xsi:type="dcterms:W3CDTF">2026-05-08T17:40:15Z</dcterms:modified>
</cp:coreProperties>
</file>